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802AC7-BE08-4588-B219-5205AF2D0654}">
  <a:tblStyle styleId="{67802AC7-BE08-4588-B219-5205AF2D065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2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917375"/>
            <a:ext cx="77724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 Keyword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Analyzer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15468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600"/>
              <a:buFont typeface="Calibri"/>
              <a:buNone/>
            </a:pPr>
            <a:r>
              <a:rPr lang="en-US" sz="31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Sameera Prasad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B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BUSINESS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" y="1188720"/>
            <a:ext cx="8412480" cy="1234440"/>
          </a:xfrm>
          <a:prstGeom prst="rect">
            <a:avLst/>
          </a:prstGeom>
          <a:solidFill>
            <a:srgbClr val="021B2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1188720"/>
            <a:ext cx="109728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94360" y="12344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"How much revenue is the client getting from external Search Engines such as Google, Yahoo and Bing — and which keywords are performing best based on revenue?"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2606040"/>
            <a:ext cx="26517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65760" y="2606040"/>
            <a:ext cx="265176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02920" y="271576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Search Engine Attribution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3127248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Identify which visits originated from Google, Yahoo or Bing by parsing the referrer URL.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429000" y="2606040"/>
            <a:ext cx="26517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29000" y="2606040"/>
            <a:ext cx="265176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566160" y="271576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Keyword 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566160" y="3127248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Extract the exact search term the visitor used before arriving at the site.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92240" y="2606040"/>
            <a:ext cx="26517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492240" y="2606040"/>
            <a:ext cx="265176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629400" y="271576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Revenue Measurement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629400" y="3127248"/>
            <a:ext cx="2377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Sum purchase revenue across all orders and attribute it to the originating keyword.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65760" y="1143000"/>
            <a:ext cx="3931920" cy="3611880"/>
          </a:xfrm>
          <a:prstGeom prst="rect">
            <a:avLst/>
          </a:prstGeom>
          <a:solidFill>
            <a:srgbClr val="EAF4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48640" y="128016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What is hit-level data?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178308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row = one page visit by one visitor.</a:t>
            </a:r>
            <a:b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fields used:</a:t>
            </a:r>
            <a:br>
              <a:rPr b="1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— identifies the visitor session</a:t>
            </a:r>
            <a:b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referrer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— where they came from</a:t>
            </a:r>
            <a:b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event_list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— event codes (1 = purchase)</a:t>
            </a:r>
            <a:b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product_list</a:t>
            </a: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— item, quantity, revenue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0" y="1143000"/>
            <a:ext cx="4251960" cy="1554480"/>
          </a:xfrm>
          <a:prstGeom prst="rect">
            <a:avLst/>
          </a:prstGeom>
          <a:solidFill>
            <a:srgbClr val="021B2C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0" y="1143000"/>
            <a:ext cx="91440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754880" y="120700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754880" y="1572768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The purchase event fires on the Order Complete page where the referrer is the checkout page — not the original search engine. A direct lookup always returns zero.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0" y="2880360"/>
            <a:ext cx="4251960" cy="1874520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754880" y="29718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1B2C"/>
                </a:solidFill>
                <a:latin typeface="Calibri"/>
                <a:ea typeface="Calibri"/>
                <a:cs typeface="Calibri"/>
                <a:sym typeface="Calibri"/>
              </a:rPr>
              <a:t>The Solution: Session Attribution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754880" y="3429000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1B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1B2C"/>
                </a:solidFill>
                <a:latin typeface="Calibri"/>
                <a:ea typeface="Calibri"/>
                <a:cs typeface="Calibri"/>
                <a:sym typeface="Calibri"/>
              </a:rPr>
              <a:t>Pass 1</a:t>
            </a:r>
            <a:r>
              <a:rPr b="0" i="0" lang="en-US" sz="1200" u="none" cap="none" strike="noStrike">
                <a:solidFill>
                  <a:srgbClr val="021B2C"/>
                </a:solidFill>
                <a:latin typeface="Calibri"/>
                <a:ea typeface="Calibri"/>
                <a:cs typeface="Calibri"/>
                <a:sym typeface="Calibri"/>
              </a:rPr>
              <a:t> — Record the first search-engine referrer per visitor IP.</a:t>
            </a:r>
            <a:br>
              <a:rPr b="0" i="0" lang="en-US" sz="1200" u="none" cap="none" strike="noStrike">
                <a:solidFill>
                  <a:srgbClr val="021B2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021B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21B2C"/>
                </a:solidFill>
                <a:latin typeface="Calibri"/>
                <a:ea typeface="Calibri"/>
                <a:cs typeface="Calibri"/>
                <a:sym typeface="Calibri"/>
              </a:rPr>
              <a:t>Pass 2</a:t>
            </a:r>
            <a:r>
              <a:rPr b="0" i="0" lang="en-US" sz="1200" u="none" cap="none" strike="noStrike">
                <a:solidFill>
                  <a:srgbClr val="021B2C"/>
                </a:solidFill>
                <a:latin typeface="Calibri"/>
                <a:ea typeface="Calibri"/>
                <a:cs typeface="Calibri"/>
                <a:sym typeface="Calibri"/>
              </a:rPr>
              <a:t> — When a purchase event is found, attribute its revenue to that session's originating engine + keyword.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B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SOLUTION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74325" y="1280150"/>
            <a:ext cx="2018100" cy="82950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blurRad="97037" rotWithShape="0" algn="bl" dir="8100000" dist="36389">
              <a:srgbClr val="000000">
                <a:alpha val="12156"/>
              </a:srgbClr>
            </a:outerShdw>
          </a:effectLst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70412" y="1335442"/>
            <a:ext cx="1825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50" lIns="87325" spcFirstLastPara="1" rIns="87325" wrap="square" tIns="43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2"/>
              <a:buFont typeface="Calibri"/>
              <a:buNone/>
            </a:pPr>
            <a:r>
              <a:rPr b="1" i="0" lang="en-US" sz="124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Bucket</a:t>
            </a:r>
            <a:endParaRPr b="0" i="0" sz="12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70412" y="1611905"/>
            <a:ext cx="1825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50" lIns="87325" spcFirstLastPara="1" rIns="87325" wrap="square" tIns="43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51"/>
              <a:buFont typeface="Calibri"/>
              <a:buNone/>
            </a:pPr>
            <a:r>
              <a:rPr b="0" i="0" lang="en-US" sz="10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Input .sql 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51"/>
              <a:buFont typeface="Calibri"/>
              <a:buNone/>
            </a:pPr>
            <a:r>
              <a:rPr b="0" i="0" lang="en-US" sz="10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uploaded 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2292153" y="1656139"/>
            <a:ext cx="336300" cy="387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2561197" y="1600846"/>
            <a:ext cx="66900" cy="149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2436284" y="1280150"/>
            <a:ext cx="2018100" cy="8295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97037" rotWithShape="0" algn="bl" dir="8100000" dist="36389">
              <a:srgbClr val="000000">
                <a:alpha val="12156"/>
              </a:srgbClr>
            </a:outerShdw>
          </a:effectLst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2532371" y="1335442"/>
            <a:ext cx="1825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50" lIns="87325" spcFirstLastPara="1" rIns="87325" wrap="square" tIns="43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2"/>
              <a:buFont typeface="Calibri"/>
              <a:buNone/>
            </a:pPr>
            <a:r>
              <a:rPr b="1" i="0" lang="en-US" sz="124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Trigger</a:t>
            </a:r>
            <a:endParaRPr b="0" i="0" sz="12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532371" y="1611905"/>
            <a:ext cx="1825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50" lIns="87325" spcFirstLastPara="1" rIns="87325" wrap="square" tIns="43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51"/>
              <a:buFont typeface="Calibri"/>
              <a:buNone/>
            </a:pPr>
            <a:r>
              <a:rPr b="0" i="0" lang="en-US" sz="10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Auto-fires Lambda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51"/>
              <a:buFont typeface="Calibri"/>
              <a:buNone/>
            </a:pPr>
            <a:r>
              <a:rPr b="0" i="0" lang="en-US" sz="10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on file upload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454113" y="1656139"/>
            <a:ext cx="336300" cy="387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723156" y="1600846"/>
            <a:ext cx="66900" cy="149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98243" y="1280150"/>
            <a:ext cx="2018100" cy="829500"/>
          </a:xfrm>
          <a:prstGeom prst="rect">
            <a:avLst/>
          </a:prstGeom>
          <a:solidFill>
            <a:srgbClr val="021B2C"/>
          </a:solidFill>
          <a:ln>
            <a:noFill/>
          </a:ln>
          <a:effectLst>
            <a:outerShdw blurRad="97037" rotWithShape="0" algn="bl" dir="8100000" dist="36389">
              <a:srgbClr val="000000">
                <a:alpha val="12156"/>
              </a:srgbClr>
            </a:outerShdw>
          </a:effectLst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694330" y="1335442"/>
            <a:ext cx="1825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50" lIns="87325" spcFirstLastPara="1" rIns="87325" wrap="square" tIns="43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2"/>
              <a:buFont typeface="Calibri"/>
              <a:buNone/>
            </a:pPr>
            <a:r>
              <a:rPr b="1" i="0" lang="en-US" sz="124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Lambda Function</a:t>
            </a:r>
            <a:endParaRPr b="0" i="0" sz="12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694330" y="1611905"/>
            <a:ext cx="1825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50" lIns="87325" spcFirstLastPara="1" rIns="87325" wrap="square" tIns="43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51"/>
              <a:buFont typeface="Calibri"/>
              <a:buNone/>
            </a:pPr>
            <a:r>
              <a:rPr b="0" i="0" lang="en-US" sz="10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lambda_function.py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51"/>
              <a:buFont typeface="Calibri"/>
              <a:buNone/>
            </a:pPr>
            <a:r>
              <a:rPr b="0" i="0" lang="en-US" sz="10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calls Controller.py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616072" y="1656139"/>
            <a:ext cx="336300" cy="387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885115" y="1600846"/>
            <a:ext cx="66900" cy="149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760202" y="1280150"/>
            <a:ext cx="2018100" cy="82950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blurRad="97037" rotWithShape="0" algn="bl" dir="8100000" dist="36389">
              <a:srgbClr val="000000">
                <a:alpha val="12156"/>
              </a:srgbClr>
            </a:outerShdw>
          </a:effectLst>
        </p:spPr>
        <p:txBody>
          <a:bodyPr anchorCtr="0" anchor="ctr" bIns="87325" lIns="87325" spcFirstLastPara="1" rIns="87325" wrap="square" tIns="8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856289" y="1335442"/>
            <a:ext cx="1825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50" lIns="87325" spcFirstLastPara="1" rIns="87325" wrap="square" tIns="43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2"/>
              <a:buFont typeface="Calibri"/>
              <a:buNone/>
            </a:pPr>
            <a:r>
              <a:rPr b="1" i="0" lang="en-US" sz="124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DataExtractor</a:t>
            </a:r>
            <a:endParaRPr b="0" i="0" sz="12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856289" y="1611905"/>
            <a:ext cx="1825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650" lIns="87325" spcFirstLastPara="1" rIns="87325" wrap="square" tIns="43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51"/>
              <a:buFont typeface="Calibri"/>
              <a:buNone/>
            </a:pPr>
            <a:r>
              <a:rPr b="0" i="0" lang="en-US" sz="10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Session attribution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51"/>
              <a:buFont typeface="Calibri"/>
              <a:buNone/>
            </a:pPr>
            <a:r>
              <a:rPr b="0" i="0" lang="en-US" sz="10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&amp; revenue logic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97200" y="434195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74325" y="44801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YYYY-mm-dd_SearchKeywordPerformance.tab  —  tab-delimited file written back to S3/output/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6" title="ETL pipeline 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2438025"/>
            <a:ext cx="8481049" cy="17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SAMPLE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74320" y="1188720"/>
            <a:ext cx="2651760" cy="1234440"/>
          </a:xfrm>
          <a:prstGeom prst="rect">
            <a:avLst/>
          </a:prstGeom>
          <a:solidFill>
            <a:srgbClr val="EAF4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274320" y="1188720"/>
            <a:ext cx="26517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274320" y="1261872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$730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74320" y="19202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Attributed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3200400" y="1188720"/>
            <a:ext cx="2651760" cy="1234440"/>
          </a:xfrm>
          <a:prstGeom prst="rect">
            <a:avLst/>
          </a:prstGeom>
          <a:solidFill>
            <a:srgbClr val="EAF4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200400" y="1261872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200400" y="19202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Purchase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126480" y="1188720"/>
            <a:ext cx="2651760" cy="1234440"/>
          </a:xfrm>
          <a:prstGeom prst="rect">
            <a:avLst/>
          </a:prstGeom>
          <a:solidFill>
            <a:srgbClr val="EAF4F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126480" y="1261872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Engines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" name="Google Shape;111;p7"/>
          <p:cNvGraphicFramePr/>
          <p:nvPr/>
        </p:nvGraphicFramePr>
        <p:xfrm>
          <a:off x="274320" y="260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{67802AC7-BE08-4588-B219-5205AF2D0654}</a:tableStyleId>
              </a:tblPr>
              <a:tblGrid>
                <a:gridCol w="2560325"/>
                <a:gridCol w="2194550"/>
                <a:gridCol w="1645925"/>
                <a:gridCol w="21945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Search Engine Domain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Search Keyword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Revenue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Date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64748B"/>
                          </a:solidFill>
                        </a:rPr>
                        <a:t>google.com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1B2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1B2C"/>
                          </a:solidFill>
                        </a:rPr>
                        <a:t>Ipod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C39A"/>
                          </a:solidFill>
                        </a:rPr>
                        <a:t>$290.00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64748B"/>
                          </a:solidFill>
                        </a:rPr>
                        <a:t>2009-09-27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64748B"/>
                          </a:solidFill>
                        </a:rPr>
                        <a:t>bing.com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1B2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1B2C"/>
                          </a:solidFill>
                        </a:rPr>
                        <a:t>Zune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C39A"/>
                          </a:solidFill>
                        </a:rPr>
                        <a:t>$250.00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64748B"/>
                          </a:solidFill>
                        </a:rPr>
                        <a:t>2009-09-27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64748B"/>
                          </a:solidFill>
                        </a:rPr>
                        <a:t>google.com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1B2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1B2C"/>
                          </a:solidFill>
                        </a:rPr>
                        <a:t>ipod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2C39A"/>
                          </a:solidFill>
                        </a:rPr>
                        <a:t>$190.00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64748B"/>
                          </a:solidFill>
                        </a:rPr>
                        <a:t>2009-09-27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2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457200" y="4572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57200" y="914400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raw hit data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actionable insight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7200" y="24688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Reads tab-separated Adobe Analytics hit-level data from S3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A0C4D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Uses two-pass session attribution to correctly link purchases to originating keywords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A0C4D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Outputs a clean, sorted tab-delimited report by revenue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A0C4D8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Fully automated via AWS Lambda triggered on S3 file upload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74320" y="4389120"/>
            <a:ext cx="85953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